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Ochelska-Mierzejewska et al., Electronics 2021, 10, 3147. https://doi.org/10.3390/electronics10243147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Clarke and Wright savings method; diagram source in user-provided deck: Fikejz et al., Journal of Advanced Transportation (2024), 8753106.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Fikejz et al., Journal of Advanced Transportation (2024), 8753106.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8" name="Google Shape;12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0" name="Google Shape;14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presentation and DQN_parent.py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https://medium.com/h7w/an-introduction-to-transformers-in-machine-learning-50c8a53af576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72" name="Google Shape;17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Transformer encoder code from the current conversation.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85" name="Google Shape;18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DQN_parent.py supplied by the user. Formula reflects its Double-DQN-style target selection/evaluation.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04" name="Google Shape;20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DQN_parent.py supplied by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16" name="Google Shape;21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DQN_parent.py supplied by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44" name="Google Shape;24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Experimental plot supplied in the user-provided presentation.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70" name="Google Shape;27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Experimental plot supplied in the user-provided presentation.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79" name="Google Shape;27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A2C code supplied by the user in Pasted code.py.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88" name="Google Shape;28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A2C code supplied by the user in Pasted code.py.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01" name="Google Shape;30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Experimental A2C plot supplied by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16" name="Google Shape;31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Experimental A2C plot supplied by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25" name="Google Shape;32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667500" y="0"/>
            <a:ext cx="2476500" cy="2476500"/>
          </a:xfrm>
          <a:prstGeom prst="ellipse">
            <a:avLst/>
          </a:prstGeom>
          <a:solidFill>
            <a:srgbClr val="FFF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000875" y="2476500"/>
            <a:ext cx="2143125" cy="2667000"/>
          </a:xfrm>
          <a:prstGeom prst="ellipse">
            <a:avLst/>
          </a:prstGeom>
          <a:solidFill>
            <a:srgbClr val="FFD9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52450" y="552450"/>
            <a:ext cx="571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REINFORCEMENT LEARNING · CS 6999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52450" y="1047750"/>
            <a:ext cx="58102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25">
                <a:solidFill>
                  <a:srgbClr val="17233D"/>
                </a:solidFill>
              </a:rPr>
              <a:t>Solving CVRP with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25">
                <a:solidFill>
                  <a:srgbClr val="17233D"/>
                </a:solidFill>
              </a:rPr>
              <a:t>DQN and A2C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52450" y="37147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0283A"/>
                </a:solidFill>
              </a:rPr>
              <a:t>Arefeh Pourmohammadi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52450" y="402907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67085"/>
                </a:solidFill>
              </a:rPr>
              <a:t>20 August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How the solution is built</a:t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571500" y="1143000"/>
            <a:ext cx="428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01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095375" y="114300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Problem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000375" y="11430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CVRP constraints and objective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095375" y="1628775"/>
            <a:ext cx="7143750" cy="9525"/>
          </a:xfrm>
          <a:prstGeom prst="rect">
            <a:avLst/>
          </a:prstGeom>
          <a:solidFill>
            <a:srgbClr val="D8DFEA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71500" y="1809750"/>
            <a:ext cx="428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02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095375" y="180975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Baseline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000375" y="180975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Clarke–Wright savings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95375" y="2295525"/>
            <a:ext cx="7143750" cy="9525"/>
          </a:xfrm>
          <a:prstGeom prst="rect">
            <a:avLst/>
          </a:prstGeom>
          <a:solidFill>
            <a:srgbClr val="D8DFEA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71500" y="2476500"/>
            <a:ext cx="428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03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095375" y="247650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Representation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000375" y="24765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GNN and Transformer encoders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095375" y="2962275"/>
            <a:ext cx="7143750" cy="9525"/>
          </a:xfrm>
          <a:prstGeom prst="rect">
            <a:avLst/>
          </a:prstGeom>
          <a:solidFill>
            <a:srgbClr val="D8DFEA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71500" y="3143250"/>
            <a:ext cx="428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04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95375" y="314325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Learning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000375" y="314325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DDQN, and A2C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095375" y="3629025"/>
            <a:ext cx="7143750" cy="9525"/>
          </a:xfrm>
          <a:prstGeom prst="rect">
            <a:avLst/>
          </a:prstGeom>
          <a:solidFill>
            <a:srgbClr val="D8DFEA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71500" y="3810000"/>
            <a:ext cx="428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05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95375" y="381000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Evaluation</a:t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000375" y="38100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Performance by graph size and fleet size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CVRP assigns every client to a feasible route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71500" y="1190625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20283A"/>
                </a:solidFill>
              </a:rPr>
              <a:t>•  N clients, each with a demand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71500" y="1638300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20283A"/>
                </a:solidFill>
              </a:rPr>
              <a:t>•  C vehicles with fixed capacity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71500" y="2085975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20283A"/>
                </a:solidFill>
              </a:rPr>
              <a:t>•  Every client is visited exactly once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71500" y="2533650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20283A"/>
                </a:solidFill>
              </a:rPr>
              <a:t>•  Each route starts and ends at the depot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71500" y="2981325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7233D"/>
                </a:solidFill>
              </a:rPr>
              <a:t>•  Objective: minimize total travel distance</a:t>
            </a:r>
            <a:endParaRPr/>
          </a:p>
        </p:txBody>
      </p:sp>
      <p:pic>
        <p:nvPicPr>
          <p:cNvPr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0" y="1698914"/>
            <a:ext cx="3810000" cy="1745673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4857750" y="4000500"/>
            <a:ext cx="357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7085"/>
                </a:solidFill>
              </a:rPr>
              <a:t>Capacity constraints must remain satisfied for every vehicle.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762500" y="4457700"/>
            <a:ext cx="3810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67085"/>
                </a:solidFill>
              </a:rPr>
              <a:t>Source: Ochelska-Mierzejewska et al., Electronics 2021, 10, 3147.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The baseline greedily merges routes with the largest savings</a:t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561975" y="1677400"/>
            <a:ext cx="304800" cy="3048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1038225" y="1639300"/>
            <a:ext cx="75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Start with one depot–client–depot route per client</a:t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561975" y="2258425"/>
            <a:ext cx="304800" cy="3048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038225" y="2220325"/>
            <a:ext cx="75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Compute s(i,j) = d(i,0) + d(0,j) − d(i,j)</a:t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61975" y="2839450"/>
            <a:ext cx="304800" cy="3048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038225" y="2801350"/>
            <a:ext cx="75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Sort client pairs from largest to smallest saving</a:t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61975" y="3420475"/>
            <a:ext cx="304800" cy="3048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4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1038225" y="3382375"/>
            <a:ext cx="75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Merge routes only when capacity and routing constraints remain feasible</a:t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61975" y="4001500"/>
            <a:ext cx="304800" cy="3048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</a:rPr>
              <a:t>5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1038225" y="3963400"/>
            <a:ext cx="75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Stop when no additional feasible merge exists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A route merge replaces four legs with three</a:t>
            </a:r>
            <a:endParaRPr/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306" y="1095375"/>
            <a:ext cx="5755389" cy="2714625"/>
          </a:xfrm>
          <a:prstGeom prst="roundRect">
            <a:avLst>
              <a:gd fmla="val 4211" name="adj"/>
            </a:avLst>
          </a:prstGeom>
          <a:noFill/>
          <a:ln>
            <a:noFill/>
          </a:ln>
        </p:spPr>
      </p:pic>
      <p:sp>
        <p:nvSpPr>
          <p:cNvPr id="84" name="Google Shape;84;p7"/>
          <p:cNvSpPr/>
          <p:nvPr/>
        </p:nvSpPr>
        <p:spPr>
          <a:xfrm>
            <a:off x="1809750" y="3905250"/>
            <a:ext cx="5524500" cy="419100"/>
          </a:xfrm>
          <a:prstGeom prst="roundRect">
            <a:avLst>
              <a:gd fmla="val 36364" name="adj"/>
            </a:avLst>
          </a:prstGeom>
          <a:solidFill>
            <a:srgbClr val="EAF0FF"/>
          </a:solidFill>
          <a:ln cap="flat" cmpd="sng" w="9525">
            <a:solidFill>
              <a:srgbClr val="EA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2000250" y="3952875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233D"/>
                </a:solidFill>
              </a:rPr>
              <a:t>Larger saving  →  more attractive feasible merge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1190625" y="4495800"/>
            <a:ext cx="676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67085"/>
                </a:solidFill>
              </a:rPr>
              <a:t>Source: Fikejz et al., Journal of Advanced Transportation, 2024, 8753106.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RL constructs the routes one decision at a time</a:t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52450" y="1285875"/>
            <a:ext cx="2571750" cy="2238375"/>
          </a:xfrm>
          <a:prstGeom prst="roundRect">
            <a:avLst>
              <a:gd fmla="val 936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762000" y="1476375"/>
            <a:ext cx="2152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STATE</a:t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762000" y="1952625"/>
            <a:ext cx="2152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Graph statistics, unvisited-client representation, and other routes</a:t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3390900" y="1285875"/>
            <a:ext cx="2571750" cy="2238375"/>
          </a:xfrm>
          <a:prstGeom prst="roundRect">
            <a:avLst>
              <a:gd fmla="val 9362" name="adj"/>
            </a:avLst>
          </a:prstGeom>
          <a:solidFill>
            <a:srgbClr val="EAF0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3600450" y="1476375"/>
            <a:ext cx="2152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ACTION</a:t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3600450" y="1952625"/>
            <a:ext cx="2152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Choose a pair: (route, next client)</a:t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6229350" y="1285875"/>
            <a:ext cx="2571750" cy="2238375"/>
          </a:xfrm>
          <a:prstGeom prst="roundRect">
            <a:avLst>
              <a:gd fmla="val 936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6438900" y="1476375"/>
            <a:ext cx="2152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REWARD</a:t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6438900" y="1952625"/>
            <a:ext cx="2152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Negative normalized distance added by the selected move</a:t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838200" y="3905250"/>
            <a:ext cx="7477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Episode ends after all feasible client assignments are completed and routes return to the depot.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Four graph representations are compared</a:t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590550" y="1123950"/>
            <a:ext cx="1809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GNN</a:t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2571750" y="1123950"/>
            <a:ext cx="5953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Learns node embeddings by message passing; graph embedding is the mean of node embeddings.</a:t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590550" y="1962150"/>
            <a:ext cx="1809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Transformer</a:t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2571750" y="1962150"/>
            <a:ext cx="5953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Encodes node-pair tokens with self-attention; pair embeddings are pooled into nodes and the graph.</a:t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590550" y="2800350"/>
            <a:ext cx="1809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GNN + Transformer</a:t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2571750" y="2800350"/>
            <a:ext cx="5953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The GNN produces node embeddings, then the Transformer models global </a:t>
            </a:r>
            <a:r>
              <a:rPr lang="en-US" sz="1275">
                <a:solidFill>
                  <a:srgbClr val="667085"/>
                </a:solidFill>
              </a:rPr>
              <a:t>embedding from the gnn embeddings</a:t>
            </a:r>
            <a:r>
              <a:rPr b="0" lang="en-US" sz="1275">
                <a:solidFill>
                  <a:srgbClr val="667085"/>
                </a:solidFill>
              </a:rPr>
              <a:t>.</a:t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590550" y="3638550"/>
            <a:ext cx="1809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Statistical features only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2571750" y="3638550"/>
            <a:ext cx="59531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Uses normalized graph, route, client, and demand statistics without a learned graph encoder.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GNN message passing produces one embedding per node</a:t>
            </a:r>
            <a:endParaRPr/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406" y="1285875"/>
            <a:ext cx="6705189" cy="2714625"/>
          </a:xfrm>
          <a:prstGeom prst="roundRect">
            <a:avLst>
              <a:gd fmla="val 4211" name="adj"/>
            </a:avLst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1333500" y="4191000"/>
            <a:ext cx="647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233D"/>
                </a:solidFill>
              </a:rPr>
              <a:t>Graph embedding = mean of all final node embeddings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Node and edge features describe local demand and geometry</a:t>
            </a:r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571500" y="1333500"/>
            <a:ext cx="3429000" cy="2476500"/>
          </a:xfrm>
          <a:prstGeom prst="roundRect">
            <a:avLst>
              <a:gd fmla="val 8462" name="adj"/>
            </a:avLst>
          </a:prstGeom>
          <a:solidFill>
            <a:srgbClr val="EAF0FF"/>
          </a:solidFill>
          <a:ln cap="flat" cmpd="sng" w="9525">
            <a:solidFill>
              <a:srgbClr val="EA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838200" y="157162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NODE FEATURES</a:t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838200" y="2047875"/>
            <a:ext cx="27622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7233D"/>
                </a:solidFill>
              </a:rPr>
              <a:t>• Normalized client demand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7233D"/>
                </a:solidFill>
              </a:rPr>
              <a:t>• Average distance to other nodes</a:t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4762500" y="1333500"/>
            <a:ext cx="3429000" cy="2476500"/>
          </a:xfrm>
          <a:prstGeom prst="roundRect">
            <a:avLst>
              <a:gd fmla="val 846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5029200" y="157162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EDGE FEATURE</a:t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5029200" y="2143125"/>
            <a:ext cx="2762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33D"/>
                </a:solidFill>
              </a:rPr>
              <a:t>Normalized distance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33D"/>
                </a:solidFill>
              </a:rPr>
              <a:t>between the connected nodes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Each edge creates a message for its connected nodes</a:t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952500" y="1285875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B10B5B"/>
                </a:solidFill>
              </a:rPr>
              <a:t>mᵢⱼ = FFN([xᵢ ‖ xⱼ ‖ eᵢⱼ])</a:t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2271713" y="2590800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666750" y="2333625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762000" y="2428875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Node 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features</a:t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4276725" y="2590800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2671763" y="2333625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2767013" y="2428875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Node j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features</a:t>
            </a:r>
            <a:endParaRPr/>
          </a:p>
        </p:txBody>
      </p:sp>
      <p:sp>
        <p:nvSpPr>
          <p:cNvPr id="150" name="Google Shape;150;p12"/>
          <p:cNvSpPr/>
          <p:nvPr/>
        </p:nvSpPr>
        <p:spPr>
          <a:xfrm>
            <a:off x="6281738" y="2590800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4676775" y="2333625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4772025" y="2428875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Edge i,j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feature</a:t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6681788" y="2333625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EAF0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>
            <a:off x="6777038" y="2428875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Feed-forward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network</a:t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1524000" y="3905250"/>
            <a:ext cx="6096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The same learned function is applied to every connected pair.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Neighbor messages are pooled to update each node</a:t>
            </a:r>
            <a:endParaRPr/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375" y="1454263"/>
            <a:ext cx="3667125" cy="2377848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63" name="Google Shape;163;p13"/>
          <p:cNvSpPr/>
          <p:nvPr/>
        </p:nvSpPr>
        <p:spPr>
          <a:xfrm>
            <a:off x="704850" y="1314450"/>
            <a:ext cx="361950" cy="36195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1219200" y="1276350"/>
            <a:ext cx="3238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Aggregate messages from all neighbors</a:t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704850" y="2114550"/>
            <a:ext cx="361950" cy="36195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1219200" y="1990725"/>
            <a:ext cx="3238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Concatenate the pooled message with the node’s own features</a:t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704850" y="3143250"/>
            <a:ext cx="361950" cy="36195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1219200" y="3028950"/>
            <a:ext cx="3238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233D"/>
                </a:solidFill>
              </a:rPr>
              <a:t>Apply an FFN to obtain the final node embedding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A Transformer layer mixes information across all tokens</a:t>
            </a:r>
            <a:endParaRPr/>
          </a:p>
        </p:txBody>
      </p:sp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125" y="1207274"/>
            <a:ext cx="1905000" cy="2919451"/>
          </a:xfrm>
          <a:prstGeom prst="roundRect">
            <a:avLst>
              <a:gd fmla="val 6000" name="adj"/>
            </a:avLst>
          </a:prstGeom>
          <a:noFill/>
          <a:ln>
            <a:noFill/>
          </a:ln>
        </p:spPr>
      </p:pic>
      <p:sp>
        <p:nvSpPr>
          <p:cNvPr id="176" name="Google Shape;176;p14"/>
          <p:cNvSpPr/>
          <p:nvPr/>
        </p:nvSpPr>
        <p:spPr>
          <a:xfrm>
            <a:off x="666750" y="1333500"/>
            <a:ext cx="428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678E8"/>
                </a:solidFill>
              </a:rPr>
              <a:t>MULTI-HEAD ATTENTION</a:t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666750" y="1695450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7233D"/>
                </a:solidFill>
              </a:rPr>
              <a:t>Each token attends to every other token using learned query, key, and value projections.</a:t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666750" y="2781300"/>
            <a:ext cx="4286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678E8"/>
                </a:solidFill>
              </a:rPr>
              <a:t>FEED-FORWARD NETWORK</a:t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666750" y="3143250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7233D"/>
                </a:solidFill>
              </a:rPr>
              <a:t>A nonlinear network independently refines every attended token.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666750" y="4000500"/>
            <a:ext cx="4667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Residual connections and LayerNorm stabilize both sublayers.</a:t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5476875" y="4495800"/>
            <a:ext cx="2952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7085"/>
                </a:solidFill>
              </a:rPr>
              <a:t>Image reference: h7w, ‘An Introduction to Transformers in Machine Learning,’ Medium.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The Transformer receives one token for every node pair</a:t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619125" y="1524000"/>
            <a:ext cx="790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B10B5B"/>
                </a:solidFill>
              </a:rPr>
              <a:t>[ avgDistᵢ, demandᵢ, avgDistⱼ, demandⱼ, distanceᵢⱼ ]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2271713" y="28289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666750" y="2571750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762000" y="2667000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Pair tokens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N(N−1)/2 × 5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4276725" y="28289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2671763" y="2571750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767013" y="2667000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Transformer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pair embeddings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6281738" y="28289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676775" y="2571750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4772025" y="2667000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Average incident pairs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node embeddings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6681788" y="2571750"/>
            <a:ext cx="1795463" cy="857250"/>
          </a:xfrm>
          <a:prstGeom prst="roundRect">
            <a:avLst>
              <a:gd fmla="val 17778" name="adj"/>
            </a:avLst>
          </a:prstGeom>
          <a:solidFill>
            <a:srgbClr val="EAF0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6777038" y="2667000"/>
            <a:ext cx="1604963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Mean over nodes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graph embedding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1143000" y="4095750"/>
            <a:ext cx="685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Output shapes: node embedding [N, model_dim]  ·  graph embedding [model_dim]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D</a:t>
            </a:r>
            <a:r>
              <a:rPr b="1" lang="en-US" sz="2550">
                <a:solidFill>
                  <a:srgbClr val="17233D"/>
                </a:solidFill>
              </a:rPr>
              <a:t>DQN learns the long-term value of each feasible action</a:t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666750" y="1190625"/>
            <a:ext cx="781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Q(s,a) ≈ expected discounted return after taking action a in state s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904875" y="1857375"/>
            <a:ext cx="7334250" cy="1047750"/>
          </a:xfrm>
          <a:prstGeom prst="roundRect">
            <a:avLst>
              <a:gd fmla="val 18182" name="adj"/>
            </a:avLst>
          </a:prstGeom>
          <a:solidFill>
            <a:srgbClr val="EAF0FF"/>
          </a:solidFill>
          <a:ln cap="flat" cmpd="sng" w="9525">
            <a:solidFill>
              <a:srgbClr val="EA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1143000" y="2047875"/>
            <a:ext cx="6858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10B5B"/>
                </a:solidFill>
              </a:rPr>
              <a:t>y = r + γ Q_target(s′, argmaxₐ Q_online(s′,a))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952500" y="3190875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20283A"/>
                </a:solidFill>
              </a:rPr>
              <a:t>•  The online network predicts Q-values for all feasible (route, client) actions.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952500" y="36004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20283A"/>
                </a:solidFill>
              </a:rPr>
              <a:t>•  ε-greedy exploration selects a random action with probability ε.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952500" y="4010025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20283A"/>
                </a:solidFill>
              </a:rPr>
              <a:t>•  Training minimizes SmoothL1Loss between Q_online(s,a) and target 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Separate encoders build the state and action representations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428625" y="1476375"/>
            <a:ext cx="1571625" cy="8382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504825" y="1581150"/>
            <a:ext cx="14192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Raw state features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952625" y="1724025"/>
            <a:ext cx="36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2238375" y="1476375"/>
            <a:ext cx="1571625" cy="8382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2314575" y="1581150"/>
            <a:ext cx="14192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State encoder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Linear → SiLU → Linear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3762375" y="1724025"/>
            <a:ext cx="36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4048125" y="1476375"/>
            <a:ext cx="1428750" cy="838200"/>
          </a:xfrm>
          <a:prstGeom prst="roundRect">
            <a:avLst>
              <a:gd fmla="val 18182" name="adj"/>
            </a:avLst>
          </a:prstGeom>
          <a:solidFill>
            <a:srgbClr val="EAF0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4124325" y="1581150"/>
            <a:ext cx="12763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Concatenate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state + action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5429250" y="1724025"/>
            <a:ext cx="36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5905500" y="1476375"/>
            <a:ext cx="1571625" cy="8382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5981700" y="1581150"/>
            <a:ext cx="14192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Online Q-network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Linear → SiLU → Linear</a:t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7429500" y="1724025"/>
            <a:ext cx="36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7524750" y="1476375"/>
            <a:ext cx="1190625" cy="838200"/>
          </a:xfrm>
          <a:prstGeom prst="roundRect">
            <a:avLst>
              <a:gd fmla="val 18182" name="adj"/>
            </a:avLst>
          </a:prstGeom>
          <a:solidFill>
            <a:srgbClr val="FFF4A8"/>
          </a:solidFill>
          <a:ln cap="flat" cmpd="sng" w="9525">
            <a:solidFill>
              <a:srgbClr val="FFF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7600950" y="1581150"/>
            <a:ext cx="10382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Scalar Q(s,a)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428625" y="2905125"/>
            <a:ext cx="1571625" cy="8382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504825" y="3000375"/>
            <a:ext cx="14192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Raw action features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2238375" y="2905125"/>
            <a:ext cx="1571625" cy="8382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2314575" y="3000375"/>
            <a:ext cx="14192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Action encoder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7233D"/>
                </a:solidFill>
              </a:rPr>
              <a:t>Linear → SiLU → Linear</a:t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1933575" y="3143250"/>
            <a:ext cx="36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3781425" y="261937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678E8"/>
                </a:solidFill>
              </a:rPr>
              <a:t>↗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495300" y="400050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67085"/>
                </a:solidFill>
              </a:rPr>
              <a:t>State features: graph + unvisited clients + other routes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4810125" y="4000500"/>
            <a:ext cx="3762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67085"/>
                </a:solidFill>
              </a:rPr>
              <a:t>Action features: next client + current route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The training loop combines replay, target updates, and Double DQN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1870710" y="16859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666750" y="1428750"/>
            <a:ext cx="1394460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762000" y="1524000"/>
            <a:ext cx="120396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Generate feasible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CVRP episode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3474720" y="16859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2270760" y="1428750"/>
            <a:ext cx="1394460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2366010" y="1524000"/>
            <a:ext cx="120396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Store transition 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replay buffer</a:t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5078730" y="16859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3874770" y="1428750"/>
            <a:ext cx="1394460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3970020" y="1524000"/>
            <a:ext cx="120396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Sample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mini-batch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6682740" y="16859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5678E8"/>
                </a:solidFill>
              </a:rPr>
              <a:t>→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5478780" y="1428750"/>
            <a:ext cx="1394460" cy="85725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5574030" y="1524000"/>
            <a:ext cx="120396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Build Double-DQN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target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7082790" y="1428750"/>
            <a:ext cx="1394460" cy="857250"/>
          </a:xfrm>
          <a:prstGeom prst="roundRect">
            <a:avLst>
              <a:gd fmla="val 17778" name="adj"/>
            </a:avLst>
          </a:prstGeom>
          <a:solidFill>
            <a:srgbClr val="EAF0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7082800" y="1524000"/>
            <a:ext cx="1345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Backpropagate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233D"/>
                </a:solidFill>
              </a:rPr>
              <a:t>SmoothL1Loss</a:t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714375" y="290512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78E8"/>
                </a:solidFill>
              </a:rPr>
              <a:t>Feasibility mask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2428875" y="2905125"/>
            <a:ext cx="6048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0283A"/>
                </a:solidFill>
              </a:rPr>
              <a:t>Rejects actions that violate capacity or make the remaining demands impossible to pack.</a:t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714375" y="34480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78E8"/>
                </a:solidFill>
              </a:rPr>
              <a:t>Target network</a:t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2428875" y="3448050"/>
            <a:ext cx="6048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0283A"/>
                </a:solidFill>
              </a:rPr>
              <a:t>Periodically copies weights from the online Q-network.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714375" y="399097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78E8"/>
                </a:solidFill>
              </a:rPr>
              <a:t>Stability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2428875" y="3990975"/>
            <a:ext cx="6048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0283A"/>
                </a:solidFill>
              </a:rPr>
              <a:t>Gradient clipping, learning-rate decay, and epsilon decay are applied during training.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Simpler DDQN variants scale better as the graph grows</a:t>
            </a:r>
            <a:endParaRPr/>
          </a:p>
        </p:txBody>
      </p:sp>
      <p:pic>
        <p:nvPicPr>
          <p:cNvPr id="273" name="Google Shape;2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910" y="1190625"/>
            <a:ext cx="5096555" cy="3143250"/>
          </a:xfrm>
          <a:prstGeom prst="roundRect">
            <a:avLst>
              <a:gd fmla="val 3636" name="adj"/>
            </a:avLst>
          </a:prstGeom>
          <a:noFill/>
          <a:ln>
            <a:noFill/>
          </a:ln>
        </p:spPr>
      </p:pic>
      <p:sp>
        <p:nvSpPr>
          <p:cNvPr id="274" name="Google Shape;274;p19"/>
          <p:cNvSpPr/>
          <p:nvPr/>
        </p:nvSpPr>
        <p:spPr>
          <a:xfrm>
            <a:off x="6572250" y="1714500"/>
            <a:ext cx="19526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233D"/>
                </a:solidFill>
              </a:rPr>
              <a:t>Only-DQN and Transformer-DQN remain close to the Clarke–Wright baseline.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6572250" y="2857500"/>
            <a:ext cx="19526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The GNN-based variants produce much longer routes, and the gap increases with graph size.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Only-DQN remains strongest across different fleet sizes</a:t>
            </a:r>
            <a:endParaRPr/>
          </a:p>
        </p:txBody>
      </p:sp>
      <p:pic>
        <p:nvPicPr>
          <p:cNvPr id="282" name="Google Shape;2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910" y="1190625"/>
            <a:ext cx="5096555" cy="3143250"/>
          </a:xfrm>
          <a:prstGeom prst="roundRect">
            <a:avLst>
              <a:gd fmla="val 3636" name="adj"/>
            </a:avLst>
          </a:prstGeom>
          <a:noFill/>
          <a:ln>
            <a:noFill/>
          </a:ln>
        </p:spPr>
      </p:pic>
      <p:sp>
        <p:nvSpPr>
          <p:cNvPr id="283" name="Google Shape;283;p20"/>
          <p:cNvSpPr/>
          <p:nvPr/>
        </p:nvSpPr>
        <p:spPr>
          <a:xfrm>
            <a:off x="6572250" y="1714500"/>
            <a:ext cx="19526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233D"/>
                </a:solidFill>
              </a:rPr>
              <a:t>Only-DQN gives the lowest or near-lowest total distance for 3–6 vehicles.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6572250" y="2857500"/>
            <a:ext cx="19526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Embedding-heavy variants remain substantially above the baseline across the tested fleet sizes.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A2C learns a policy and value function together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714375" y="1381125"/>
            <a:ext cx="3333750" cy="2190750"/>
          </a:xfrm>
          <a:prstGeom prst="roundRect">
            <a:avLst>
              <a:gd fmla="val 9565" name="adj"/>
            </a:avLst>
          </a:prstGeom>
          <a:solidFill>
            <a:srgbClr val="EAF0FF"/>
          </a:solidFill>
          <a:ln cap="flat" cmpd="sng" w="9525">
            <a:solidFill>
              <a:srgbClr val="EA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1000125" y="166687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678E8"/>
                </a:solidFill>
              </a:rPr>
              <a:t>ACTOR</a:t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1047750" y="2190750"/>
            <a:ext cx="2667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7233D"/>
                </a:solidFill>
              </a:rPr>
              <a:t>Produces a probability distribution over feasible (route, client) actions.</a:t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5095875" y="1381125"/>
            <a:ext cx="3333750" cy="2190750"/>
          </a:xfrm>
          <a:prstGeom prst="roundRect">
            <a:avLst>
              <a:gd fmla="val 9565" name="adj"/>
            </a:avLst>
          </a:prstGeom>
          <a:solidFill>
            <a:srgbClr val="FFFFFF"/>
          </a:solidFill>
          <a:ln cap="flat" cmpd="sng" w="9525">
            <a:solidFill>
              <a:srgbClr val="D8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5381625" y="166687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678E8"/>
                </a:solidFill>
              </a:rPr>
              <a:t>CRITIC</a:t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5429250" y="2190750"/>
            <a:ext cx="2667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7233D"/>
                </a:solidFill>
              </a:rPr>
              <a:t>Estimates V(s) and supplies an advantage signal to improve the actor.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1285875" y="3905250"/>
            <a:ext cx="6572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67085"/>
                </a:solidFill>
              </a:rPr>
              <a:t>The actor uses [state ‖ action]; the critic uses only the state representation.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A2C updates both networks from one complete trajectory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571500" y="1219200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Return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571500" y="1504950"/>
            <a:ext cx="3524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33D"/>
                </a:solidFill>
              </a:rPr>
              <a:t>Gₜ = rₜ + γrₜ₊₁ + γ²rₜ₊₂ + …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4857750" y="1219200"/>
            <a:ext cx="1714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678E8"/>
                </a:solidFill>
              </a:rPr>
              <a:t>Advantage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4857750" y="1504950"/>
            <a:ext cx="333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233D"/>
                </a:solidFill>
              </a:rPr>
              <a:t>Aₜ = Gₜ − V(sₜ)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714375" y="2238375"/>
            <a:ext cx="7715250" cy="1000125"/>
          </a:xfrm>
          <a:prstGeom prst="roundRect">
            <a:avLst>
              <a:gd fmla="val 19048" name="adj"/>
            </a:avLst>
          </a:prstGeom>
          <a:solidFill>
            <a:srgbClr val="EAF0FF"/>
          </a:solidFill>
          <a:ln cap="flat" cmpd="sng" w="9525">
            <a:solidFill>
              <a:srgbClr val="EA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904875" y="2428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B10B5B"/>
                </a:solidFill>
              </a:rPr>
              <a:t>Total loss = Actor loss + value_coef × Critic loss − entropy_coef × Entropy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809625" y="3524250"/>
            <a:ext cx="7524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•  Actor loss increases the probability of actions with positive detached advantage.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809625" y="3886200"/>
            <a:ext cx="7524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•  Critic loss is the mean squared advantage: (Gₜ − V(sₜ))².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809625" y="4248150"/>
            <a:ext cx="7524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20283A"/>
                </a:solidFill>
              </a:rPr>
              <a:t>•  Entropy encourages exploration; gradients are clipped and the learning rate decays.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Transformer-A2C stays closest to the baseline as graphs grow</a:t>
            </a:r>
            <a:endParaRPr/>
          </a:p>
        </p:txBody>
      </p:sp>
      <p:pic>
        <p:nvPicPr>
          <p:cNvPr id="319" name="Google Shape;3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281" y="1066800"/>
            <a:ext cx="5405438" cy="3333750"/>
          </a:xfrm>
          <a:prstGeom prst="roundRect">
            <a:avLst>
              <a:gd fmla="val 3429" name="adj"/>
            </a:avLst>
          </a:prstGeom>
          <a:noFill/>
          <a:ln>
            <a:noFill/>
          </a:ln>
        </p:spPr>
      </p:pic>
      <p:sp>
        <p:nvSpPr>
          <p:cNvPr id="320" name="Google Shape;320;p23"/>
          <p:cNvSpPr/>
          <p:nvPr/>
        </p:nvSpPr>
        <p:spPr>
          <a:xfrm>
            <a:off x="6667500" y="161925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233D"/>
                </a:solidFill>
              </a:rPr>
              <a:t>Clarke–Wright remains the strongest overall baseline.</a:t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6667500" y="2524125"/>
            <a:ext cx="1905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7085"/>
                </a:solidFill>
              </a:rPr>
              <a:t>Transformer-A2C and GNN-A2C track it most closely. Only-A2C and GNN–Transformer-A2C diverge as the number of nodes increases.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GNN-A2C is the strongest learned variant across fleet sizes</a:t>
            </a:r>
            <a:endParaRPr/>
          </a:p>
        </p:txBody>
      </p:sp>
      <p:pic>
        <p:nvPicPr>
          <p:cNvPr id="328" name="Google Shape;3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281" y="1066800"/>
            <a:ext cx="5405438" cy="3333750"/>
          </a:xfrm>
          <a:prstGeom prst="roundRect">
            <a:avLst>
              <a:gd fmla="val 3429" name="adj"/>
            </a:avLst>
          </a:prstGeom>
          <a:noFill/>
          <a:ln>
            <a:noFill/>
          </a:ln>
        </p:spPr>
      </p:pic>
      <p:sp>
        <p:nvSpPr>
          <p:cNvPr id="329" name="Google Shape;329;p24"/>
          <p:cNvSpPr/>
          <p:nvPr/>
        </p:nvSpPr>
        <p:spPr>
          <a:xfrm>
            <a:off x="6667500" y="1619250"/>
            <a:ext cx="1905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233D"/>
                </a:solidFill>
              </a:rPr>
              <a:t>Clarke–Wright improves as more vehicles become available.</a:t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6667500" y="2619375"/>
            <a:ext cx="1905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7085"/>
                </a:solidFill>
              </a:rPr>
              <a:t>GNN-A2C is the closest learned method overall. Transformer-A2C degrades with more vehicles, while Only-A2C and the combined encoder remain much higher.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E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/>
          <p:nvPr/>
        </p:nvSpPr>
        <p:spPr>
          <a:xfrm>
            <a:off x="514350" y="323850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233D"/>
                </a:solidFill>
              </a:rPr>
              <a:t>Results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514350" y="1442125"/>
            <a:ext cx="400200" cy="4002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1133475" y="1404025"/>
            <a:ext cx="695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Normalizing the inputs improved </a:t>
            </a:r>
            <a:r>
              <a:rPr b="1" lang="en-US" sz="1575">
                <a:solidFill>
                  <a:srgbClr val="17233D"/>
                </a:solidFill>
              </a:rPr>
              <a:t>their</a:t>
            </a:r>
            <a:r>
              <a:rPr b="1" lang="en-US" sz="1575">
                <a:solidFill>
                  <a:srgbClr val="17233D"/>
                </a:solidFill>
              </a:rPr>
              <a:t> </a:t>
            </a:r>
            <a:r>
              <a:rPr b="1" lang="en-US" sz="1575">
                <a:solidFill>
                  <a:srgbClr val="17233D"/>
                </a:solidFill>
              </a:rPr>
              <a:t>performance</a:t>
            </a:r>
            <a:r>
              <a:rPr b="1" lang="en-US" sz="1575">
                <a:solidFill>
                  <a:srgbClr val="17233D"/>
                </a:solidFill>
              </a:rPr>
              <a:t> heavily</a:t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1133400" y="1727875"/>
            <a:ext cx="6953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7085"/>
                </a:solidFill>
              </a:rPr>
              <a:t>The gap between the models and the heuristic approach before normalization was huge but normalizing inputs of all networks made them better </a:t>
            </a:r>
            <a:r>
              <a:rPr lang="en-US" sz="1200">
                <a:solidFill>
                  <a:srgbClr val="667085"/>
                </a:solidFill>
              </a:rPr>
              <a:t>performance</a:t>
            </a:r>
            <a:endParaRPr/>
          </a:p>
        </p:txBody>
      </p:sp>
      <p:sp>
        <p:nvSpPr>
          <p:cNvPr id="340" name="Google Shape;340;p25"/>
          <p:cNvSpPr/>
          <p:nvPr/>
        </p:nvSpPr>
        <p:spPr>
          <a:xfrm>
            <a:off x="514350" y="2516338"/>
            <a:ext cx="400200" cy="4002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1133475" y="2478238"/>
            <a:ext cx="695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More representation is not always better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1133475" y="2726413"/>
            <a:ext cx="6953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7085"/>
                </a:solidFill>
              </a:rPr>
              <a:t>In the supplied experiments, Only-DQN is more competitive than GNN-based variants.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514350" y="3628675"/>
            <a:ext cx="400200" cy="400200"/>
          </a:xfrm>
          <a:prstGeom prst="rect">
            <a:avLst/>
          </a:prstGeom>
          <a:solidFill>
            <a:srgbClr val="567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1133475" y="3590575"/>
            <a:ext cx="6953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7233D"/>
                </a:solidFill>
              </a:rPr>
              <a:t>Different Networks for action and state is better in non-GNN models</a:t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1133475" y="3838750"/>
            <a:ext cx="6953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7085"/>
                </a:solidFill>
              </a:rPr>
              <a:t>While having different networks for action and state embedding made the non-GNN </a:t>
            </a:r>
            <a:r>
              <a:rPr lang="en-US" sz="1200">
                <a:solidFill>
                  <a:srgbClr val="667085"/>
                </a:solidFill>
              </a:rPr>
              <a:t>models</a:t>
            </a:r>
            <a:r>
              <a:rPr lang="en-US" sz="1200">
                <a:solidFill>
                  <a:srgbClr val="667085"/>
                </a:solidFill>
              </a:rPr>
              <a:t> better it worsen the GNN-based models in DDQN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